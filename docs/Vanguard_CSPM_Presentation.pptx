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4572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737360"/>
            <a:ext cx="12188952" cy="4572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606039"/>
            <a:ext cx="12188952" cy="4572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74720"/>
            <a:ext cx="12188952" cy="4572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43400"/>
            <a:ext cx="12188952" cy="4572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212079"/>
            <a:ext cx="12188952" cy="4572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080759"/>
            <a:ext cx="12188952" cy="4572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92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552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9848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21440" y="0"/>
            <a:ext cx="4572" cy="6858000"/>
          </a:xfrm>
          <a:prstGeom prst="rect">
            <a:avLst/>
          </a:prstGeom>
          <a:solidFill>
            <a:srgbClr val="1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2011680"/>
            <a:ext cx="5760720" cy="2834640"/>
          </a:xfrm>
          <a:prstGeom prst="rect">
            <a:avLst/>
          </a:prstGeom>
          <a:solidFill>
            <a:srgbClr val="12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2011680"/>
            <a:ext cx="64008" cy="28346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21488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VANGUARD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880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alibri"/>
              </a:rPr>
              <a:t>CLOUD SECURITY POSTURE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38328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47A"/>
                </a:solidFill>
                <a:latin typeface="Calibri"/>
              </a:rPr>
              <a:t>Multi-cloud security scanning, compliance monitoring, and risk management
platform for AWS and Azure cloud environments.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38144" y="4251960"/>
            <a:ext cx="502920" cy="201168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83863" y="42702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AWS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2504" y="4251960"/>
            <a:ext cx="594360" cy="2011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78224" y="427024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AZURE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18304" y="4251960"/>
            <a:ext cx="868680" cy="20116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64024" y="427024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137+ RULES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78424" y="4251960"/>
            <a:ext cx="1005840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24144" y="427024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0C09"/>
                </a:solidFill>
                <a:latin typeface="Calibri"/>
              </a:rPr>
              <a:t>6 FRAMEWORKS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38144" y="4709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Anish Doulagar  · 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5C518"/>
                </a:solidFill>
                <a:latin typeface="Consolas"/>
              </a:rPr>
              <a:t>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What we'll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4241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014984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225296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Why cloud security posture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82496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19072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91640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Architecture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01952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System design and technology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59152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9572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68296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Authentication &amp;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578608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JWT, MFA, RBAC, team isolation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35808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7238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44951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Cloud Connectors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55263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AWS &amp; Azure service collectors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12464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4904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21608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Policy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31920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137+ rules across 6 frameworks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89120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2569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398264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Risk 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608576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Penalty model and severity levels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065775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02351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074919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Dashboard &amp;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285231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Live metrics and interactive views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742431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779007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751575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Accounts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961888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Multi-cloud account lifecycle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1005840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04241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1014984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Scan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1225296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On-demand and scheduled scans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1682496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1719072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1691640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Findings &amp; Compliance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1901952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Results, tracking, and remediation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359152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239572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2368296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Alerting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2578608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Email alerts with HTML reports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035808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07238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3044951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Custom Policies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3255263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User-defined rules and operators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712464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74904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3721608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Audit Log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3931920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Full action trail across the platform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4389120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442569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4398264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Team &amp; RBAC System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4608576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Multi-team isolation and permissions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5065775"/>
            <a:ext cx="347472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5102351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0C09"/>
                </a:solidFill>
                <a:latin typeface="Calibri"/>
              </a:rPr>
              <a:t>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5074919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5285231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Docker Compose, Nginx, prod config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The cloud security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651760" cy="13716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518"/>
                </a:solidFill>
                <a:latin typeface="Calibri"/>
              </a:rPr>
              <a:t>$4.9M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Average cost of a cloud
security breach (IBM 2024)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005840"/>
            <a:ext cx="2651760" cy="13716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097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5555"/>
                </a:solidFill>
                <a:latin typeface="Calibri"/>
              </a:rPr>
              <a:t>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91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Of breaches involve cloud
misconfigurations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2651760" cy="13716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7B3A"/>
                </a:solidFill>
                <a:latin typeface="Calibri"/>
              </a:rPr>
              <a:t>200+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Mean time to detect
a cloud breach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005840"/>
            <a:ext cx="2651760" cy="13716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097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10,000+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691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New misconfigurations
created per day in enterprise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06040"/>
            <a:ext cx="5394960" cy="27432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715768"/>
            <a:ext cx="5065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THE PROBLEM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99232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9260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47A"/>
                </a:solidFill>
                <a:latin typeface="Calibri"/>
              </a:rPr>
              <a:t>Cloud environments grow faster than security teams can monitor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55264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1821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47A"/>
                </a:solidFill>
                <a:latin typeface="Calibri"/>
              </a:rPr>
              <a:t>Misconfigurations are the #1 cause of cloud security incidents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11296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381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47A"/>
                </a:solidFill>
                <a:latin typeface="Calibri"/>
              </a:rPr>
              <a:t>Manual auditing is slow, error-prone, and doesn't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67328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941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47A"/>
                </a:solidFill>
                <a:latin typeface="Calibri"/>
              </a:rPr>
              <a:t>Compliance frameworks (CIS, PCI, HIPAA) require continuous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23360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9502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47A"/>
                </a:solidFill>
                <a:latin typeface="Calibri"/>
              </a:rPr>
              <a:t>Multi-cloud visibility across AWS &amp; Azure is fragmented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79392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206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47A"/>
                </a:solidFill>
                <a:latin typeface="Calibri"/>
              </a:rPr>
              <a:t>No centralized view of organizational security posture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606040"/>
            <a:ext cx="5760720" cy="27432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1" y="2715768"/>
            <a:ext cx="5431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THE SOLUTION — VANGUARD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99923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29260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47A"/>
                </a:solidFill>
                <a:latin typeface="Calibri"/>
              </a:rPr>
              <a:t>Automated scanning of cloud resources against 137+ security rules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255264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1821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47A"/>
                </a:solidFill>
                <a:latin typeface="Calibri"/>
              </a:rPr>
              <a:t>Unified dashboard with real-time risk scores and trending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511296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4381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47A"/>
                </a:solidFill>
                <a:latin typeface="Calibri"/>
              </a:rPr>
              <a:t>Multi-framework compliance mapping (CIS, NIST, PCI, HIPAA, SOC2, ISO)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767328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69417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47A"/>
                </a:solidFill>
                <a:latin typeface="Calibri"/>
              </a:rPr>
              <a:t>Team-based access control — isolated views per organization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023360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39502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47A"/>
                </a:solidFill>
                <a:latin typeface="Calibri"/>
              </a:rPr>
              <a:t>Custom policy engine for org-specific security requirements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27939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2062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47A"/>
                </a:solidFill>
                <a:latin typeface="Calibri"/>
              </a:rPr>
              <a:t>Email alerting and scheduled background scans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System design and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73152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247120" cy="658368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87782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87782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React 18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152144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Dashboard · Accounts · Policies · Audit ·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463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2D35"/>
                </a:solidFill>
                <a:latin typeface="Consolas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57400"/>
            <a:ext cx="73152" cy="6400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57400"/>
            <a:ext cx="11247120" cy="658368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122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  <a:latin typeface="Calibri"/>
              </a:rP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11226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FastAPI (Python 3.11)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386584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REST endpoints · JWT auth · RBAC middleware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697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2D35"/>
                </a:solidFill>
                <a:latin typeface="Consolas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91840"/>
            <a:ext cx="73152" cy="64008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11247120" cy="658368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4670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  <a:latin typeface="Calibri"/>
              </a:rPr>
              <a:t>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3467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Scan Engine + Scheduler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621024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Connectors · Policy Evaluator · Risk Scorer · APScheduler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931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2D35"/>
                </a:solidFill>
                <a:latin typeface="Consolas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26280"/>
            <a:ext cx="73152" cy="640080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11247120" cy="658368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811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B3A"/>
                </a:solidFill>
                <a:latin typeface="Calibri"/>
              </a:rPr>
              <a:t>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58114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PostgreSQL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855464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users · cloud_accounts · scan_results · audit_log · teams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166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2D35"/>
                </a:solidFill>
                <a:latin typeface="Consolas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760720"/>
            <a:ext cx="73152" cy="640080"/>
          </a:xfrm>
          <a:prstGeom prst="rect">
            <a:avLst/>
          </a:prstGeom>
          <a:solidFill>
            <a:srgbClr val="8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760720"/>
            <a:ext cx="11247120" cy="658368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1558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47A"/>
                </a:solidFill>
                <a:latin typeface="Calibri"/>
              </a:rPr>
              <a:t>INFRA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815583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Docker Compose + Nginx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6089904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Containerized services · TLS termination · reverse proxy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Libraries, frameworks, and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2743200" cy="53035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9848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399032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258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Python 3.11  /  FastAPI (async/await)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655064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5819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asyncpg — async PostgreSQL driver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11095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837943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Pydantic v2 — request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167128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09397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python-jose — JWT HS256 tokens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423160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35000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bcrypt — password hashing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2679192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60604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cryptography (Fernet) — credential encryption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2935224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286207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APScheduler — background job scheduling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3191256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11810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pyotp — TOTP MFA (RFC 6238)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960120"/>
            <a:ext cx="2743200" cy="53035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6432" y="1069848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alibri"/>
              </a:rPr>
              <a:t>Frontend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6432" y="139903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3592" y="13258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React 18 with Vite build tooling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56432" y="165506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3592" y="15819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Recharts — scan trend line charts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56432" y="1911095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3592" y="1837943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Inline CSS with CSS variables (dark/light theme)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6432" y="216712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209397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Custom icon components (SVG)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56432" y="242316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93592" y="235000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No external UI library — fully custom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960120"/>
            <a:ext cx="2743200" cy="53035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1069848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CAF7D"/>
                </a:solidFill>
                <a:latin typeface="Calibri"/>
              </a:rPr>
              <a:t>Cloud SDKs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82512" y="139903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13258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boto3 — AWS SDK (23+ service clients)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1655064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15819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azure-identity — Azure credential chain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2512" y="1911095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9672" y="1837943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azure-mgmt-* — ARM management clients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82512" y="2167128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9672" y="209397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azure-mgmt-resource / subscription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960120"/>
            <a:ext cx="2743200" cy="53035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08592" y="1069848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B3A"/>
                </a:solidFill>
                <a:latin typeface="Calibri"/>
              </a:rPr>
              <a:t>Infrastructure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08592" y="1399032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45752" y="13258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PostgreSQL 15 (Docker)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08592" y="1655064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45752" y="15819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Docker Compose (dev + prod configs)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08592" y="1911095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45752" y="1837943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Nginx — reverse proxy + TLS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8592" y="2167128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45752" y="209397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SMTP email (Gmail / SendGrid)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08592" y="2423160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45752" y="235000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uvicorn — ASGI server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AUTHENTICATION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Multi-layer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377440" cy="777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USER LOGIN
Email + Password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828800"/>
            <a:ext cx="2377440" cy="777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79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JWT TOKEN
HS256, 24h TTL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828800"/>
            <a:ext cx="2377440" cy="777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MFA CHECK
TOTP (RFC 6238)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28800"/>
            <a:ext cx="2377440" cy="777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RBAC GUARD
role + team 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0" y="1828800"/>
            <a:ext cx="2377440" cy="777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5276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RESOURCE
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103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C518"/>
                </a:solidFill>
                <a:latin typeface="Consola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103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C518"/>
                </a:solidFill>
                <a:latin typeface="Consola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103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C518"/>
                </a:solidFill>
                <a:latin typeface="Consola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2103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C518"/>
                </a:solidFill>
                <a:latin typeface="Consolas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0360"/>
            <a:ext cx="2788920" cy="338328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990088"/>
            <a:ext cx="2459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JWT Authentication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3273552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004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HS256-signed tokens, 24-hour expiry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3529584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34564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Bearer token on every authenticated request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3785616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7124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Token payload: user ID, email, role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" y="4041648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96849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/auth/me validates and refreshes session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2880360"/>
            <a:ext cx="2788920" cy="338328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6432" y="2990088"/>
            <a:ext cx="2459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alibri"/>
              </a:rPr>
              <a:t>MFA — TOTP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6432" y="327355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32004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RFC 6238 time-based one-time passwords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56432" y="352958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93592" y="34564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QR code provisioning (pyotp + qrcode)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56432" y="3785616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3592" y="37124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6-digit codes, 30-second window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56432" y="404164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93592" y="396849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Required after password login if enabled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56432" y="429768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93592" y="4224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Per-user opt-in, admin can enforce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880360"/>
            <a:ext cx="2788920" cy="338328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2990088"/>
            <a:ext cx="2459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CAF7D"/>
                </a:solidFill>
                <a:latin typeface="Calibri"/>
              </a:rPr>
              <a:t>Password Security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82512" y="327355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9672" y="32004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bcrypt with cost factor 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82512" y="3529584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9672" y="34564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Forgot-password email with signed tokens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82512" y="3785616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9672" y="37124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Admin-initiated force-reset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82512" y="4041648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9672" y="396849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Token single-use, 1-hour TTL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2880360"/>
            <a:ext cx="2788920" cy="338328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08592" y="2990088"/>
            <a:ext cx="2459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B3A"/>
                </a:solidFill>
                <a:latin typeface="Calibri"/>
              </a:rPr>
              <a:t>Role-Based Access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8592" y="3273552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45752" y="32004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4 roles: superadmin, admin, analyst, viewer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08592" y="3529584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45752" y="34564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require_role() dependency on every endpoint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08592" y="3785616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45752" y="37124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Role hierarchy: cannot escalate own role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08592" y="4041648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45752" y="396849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Admin can only manage analyst/viewer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08592" y="4297680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45752" y="4224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Fernet-encrypted cloud credentials at rest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CLOUD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AWS &amp; Azure service collectors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486400" cy="5349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9848"/>
            <a:ext cx="5157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B3A"/>
                </a:solidFill>
                <a:latin typeface="Calibri"/>
              </a:rPr>
              <a:t>AWS CONNECTOR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99032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IAM — Users, roles, policies, access keys, password policy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55064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819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S3 — Bucket ACLs, encryption, versioning, public access blocks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11095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37943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EC2 — Instances, security groups, EBS volumes, VPC config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67128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939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RDS — DB instances, snapshots, encryption, public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23160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500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Lambda — Functions, environment variables, runtime versions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79192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060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CloudTrail — Trail configs, log validation, S3 destinations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620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KMS — Key metadata, rotation status, key policies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91256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1181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EKS — Cluster configs, endpoint access, logging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47288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3741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ECR — Repositories, scan-on-push, image tag mutability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03320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301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CloudWatch — Log groups, metric alarms, retention policies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59352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8862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VPC — Flow logs, default VPC usage, NACL/SG rules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15384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1422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ElastiCache — Cluster encryption, auth token configs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471416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3982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SNS — Topic encryption, cross-account access policies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27448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6542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SQS — Queue encryption, visibility timeout, dead-letter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960120"/>
            <a:ext cx="5715000" cy="5349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1069848"/>
            <a:ext cx="5385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alibri"/>
              </a:rPr>
              <a:t>AZURE CONNECTOR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139903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132588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Storage Accounts — Encryption, HTTPS, public blob access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165506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158191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Virtual Machines — Managed disks, JIT access, extensions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1911095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1837943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Network Security Groups — Inbound rules, open ports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216712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209397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Key Vaults — Soft delete, purge protection, RBAC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242316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235000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SQL Databases — TDE, auditing, threat detection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267919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260604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AKS — Kubernetes version, RBAC, network policies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293522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286207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App Service — HTTPS only, TLS version, auth settings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191256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311810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MySQL / PostgreSQL — SSL enforcement, backup retention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344728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337413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Event Hub — Namespace encryption, network rules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370332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363016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Service Bus — CMK encryption, network isolation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395935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388620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Azure Monitor — Diagnostic settings, log retention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421538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414223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Logic Apps — Auth configurations, connection security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471416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439826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Azure Functions — Auth level, managed identity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472744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465429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Defender for Cloud — Plans per resource type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498348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46520" y="491032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Network Watchers — Coverage per region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POLICY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137+ rules across 6 compliance frameworks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1252728" cy="2011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252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CIS Benchmarks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47088" y="987552"/>
            <a:ext cx="1033271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2807" y="1005840"/>
            <a:ext cx="10332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NIST 800-53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39" y="987552"/>
            <a:ext cx="960120" cy="201168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59" y="100584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PCI-DSS v4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987552"/>
            <a:ext cx="594360" cy="20116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10058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HIPAA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79" y="987552"/>
            <a:ext cx="594360" cy="201168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199" y="10058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SOC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19" y="987552"/>
            <a:ext cx="886968" cy="201168"/>
          </a:xfrm>
          <a:prstGeom prst="rect">
            <a:avLst/>
          </a:prstGeom>
          <a:solidFill>
            <a:srgbClr val="8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39" y="1005840"/>
            <a:ext cx="886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ISO 27001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0567" y="987552"/>
            <a:ext cx="521208" cy="201168"/>
          </a:xfrm>
          <a:prstGeom prst="rect">
            <a:avLst/>
          </a:prstGeom>
          <a:solidFill>
            <a:srgbClr val="6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7" y="1005840"/>
            <a:ext cx="521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GDPR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417320"/>
            <a:ext cx="5029200" cy="25603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1527048"/>
            <a:ext cx="4700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RULE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1691640"/>
            <a:ext cx="46634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CAF7D"/>
                </a:solidFill>
                <a:latin typeface="Consolas"/>
              </a:rPr>
              <a:t>{
  "id":          "AWS-IAM-001",
  "title":       "Root account access key",
  "severity":    "CRITICAL",
  "frameworks":  ["CIS", "PCI", "NIST"],
  "resource_type": "iam_user",
  "description": "Root should not have active keys",
  "remediation": "Delete root account access keys"
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1417320"/>
            <a:ext cx="6172200" cy="25603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88152" y="1527048"/>
            <a:ext cx="5843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RULE COVERAGE BY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373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IAM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1737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C518"/>
                </a:solidFill>
                <a:latin typeface="Calibri"/>
              </a:rPr>
              <a:t>22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20025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0025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14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267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EC2 / VPC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2677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CAF7D"/>
                </a:solidFill>
                <a:latin typeface="Calibri"/>
              </a:rPr>
              <a:t>18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253288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RDS / Aurora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53288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B3A"/>
                </a:solidFill>
                <a:latin typeface="Calibri"/>
              </a:rPr>
              <a:t>10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798063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Lambda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279806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847A"/>
                </a:solidFill>
                <a:latin typeface="Calibri"/>
              </a:rPr>
              <a:t> 6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306323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CloudTrail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06323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C518"/>
                </a:solidFill>
                <a:latin typeface="Calibri"/>
              </a:rPr>
              <a:t> 8 rules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3328415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KMS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32841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 5 rules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59359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Azure 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359359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8D4"/>
                </a:solidFill>
                <a:latin typeface="Calibri"/>
              </a:rPr>
              <a:t>12 rules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38587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Azure NSG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3858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CAF7D"/>
                </a:solidFill>
                <a:latin typeface="Calibri"/>
              </a:rPr>
              <a:t> 9 rules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41239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Azure AD/KV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123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B3A"/>
                </a:solidFill>
                <a:latin typeface="Calibri"/>
              </a:rPr>
              <a:t>16 rules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4389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+ 30 more…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43891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847A"/>
                </a:solidFill>
                <a:latin typeface="Calibri"/>
              </a:rPr>
              <a:t>137 total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160520"/>
            <a:ext cx="11430000" cy="21488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4270248"/>
            <a:ext cx="11100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SEVERITY LEVELS &amp; PENALTY MODEL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462272"/>
            <a:ext cx="914400" cy="201168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448055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CRITICAL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54480" y="44622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5555"/>
                </a:solidFill>
                <a:latin typeface="Calibri"/>
              </a:rPr>
              <a:t>10 pts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754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Root exposure, public S3 data, unencrypted secrets, open RDP/SSH globally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83280" y="4462272"/>
            <a:ext cx="914400" cy="201168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29000" y="448055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44622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B3A"/>
                </a:solidFill>
                <a:latin typeface="Calibri"/>
              </a:rPr>
              <a:t> 7 pts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4754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MFA disabled, CloudTrail off, unpatched VMs, public DB endpoints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4462272"/>
            <a:ext cx="914400" cy="2011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3640" y="448055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MEDIUM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4622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  <a:latin typeface="Calibri"/>
              </a:rPr>
              <a:t> 4 pts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4754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Missing tags, weak TLS, no backup retention, logging gaps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52560" y="4462272"/>
            <a:ext cx="914400" cy="20116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98280" y="448055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LOW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44622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  <a:latin typeface="Calibri"/>
              </a:rPr>
              <a:t> 1 pt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0" y="4754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Minor config issues, best-practice deviations, informational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DASHBOARD &amp;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Live metrics, charts, and interactive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017520" cy="5349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9848"/>
            <a:ext cx="26883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PAGES /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Overview metrics + trend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965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Cloud account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1343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Quick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4203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Ad-hoc scan with live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0720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358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Past scan results &amp;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0098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Alert config + notification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Policies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Built-in &amp; custom rule 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8853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Audit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1713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Full action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8231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109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Team CRUD + member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7608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My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5046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Admin's team member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6986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9846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Platform user management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960120"/>
            <a:ext cx="4389120" cy="246888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76472" y="1069848"/>
            <a:ext cx="40599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DASHBOARD METRICS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139903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200" y="13258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Total cloud accounts connected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165506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158191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Accounts scanned vs. unscanned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39" y="1911095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6200" y="1837943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Last 90-day trend chart (Recharts)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216712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86200" y="209397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Findings by severity: CRITICAL / HIGH / MEDIUM / 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39" y="242316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86200" y="235000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Overall risk score (0–100, penalty model)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267919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6200" y="260604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Recently flagged findings with quick links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11880" y="3611880"/>
            <a:ext cx="4389120" cy="269748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76472" y="3721608"/>
            <a:ext cx="40599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THEMING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39" y="4050791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86200" y="3977639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Dark mode: cyberpunk electric-yellow palette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39" y="4306824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86200" y="42336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Light mode: high-contrast warm-beige theme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39" y="4562856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86200" y="448970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CSS custom properties (--bg, --surface, --accent…)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39" y="4818888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86200" y="474573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Single toggle — all components respond instantly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39" y="5074920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86200" y="500176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Monospace (Consolas) + UI (Calibri) fonts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49039" y="5330952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86200" y="525780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Vanguard brand: shield icon + electric accents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960120"/>
            <a:ext cx="3566160" cy="5349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94192" y="1069848"/>
            <a:ext cx="3236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UX FEATURES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94192" y="139903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31352" y="13258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Top horizontal navigation bar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94192" y="1655064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31352" y="15819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Role-filtered nav items (minRole)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94192" y="1911095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31352" y="183794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ADMIN ▾ dropdown (Teams / Users)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94192" y="2167128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31352" y="20939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Live scan progress indicator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94192" y="2423160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31352" y="2350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Findings expandable per-resource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94192" y="267919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31352" y="2606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Acknowledge / Resolve finding status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94192" y="2935224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31352" y="28620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Search + filter on all data tables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94192" y="3191256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31352" y="31181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Compliance framework filter tabs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94192" y="3447288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31352" y="33741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Dark/light theme toggle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94192" y="3703320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31352" y="36301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MFA security indicator in nav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94192" y="395935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31352" y="38862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Per-user avatar + role badge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394192" y="4215384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31352" y="41422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Empty states with onboarding hints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394192" y="4471416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31352" y="43982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Responsive overflow-x tables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CLOUD ACCOUNTS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Lifecycle of connected cloud 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828800" cy="11887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09728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  <a:latin typeface="Calibri"/>
              </a:rPr>
              <a:t>ADD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1732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Enter cloud credentials
(AWS keys or Azure SP)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1463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2D35"/>
                </a:solidFill>
                <a:latin typeface="Consola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05840"/>
            <a:ext cx="1828800" cy="11887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109728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  <a:latin typeface="Calibri"/>
              </a:rPr>
              <a:t>ENCRYPT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141732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Fernet-encrypt creds
stored in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1463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2D35"/>
                </a:solidFill>
                <a:latin typeface="Consola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005840"/>
            <a:ext cx="1828800" cy="11887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09728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TEST CONN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41732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Validate credentials
before saving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463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2D35"/>
                </a:solidFill>
                <a:latin typeface="Consola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005840"/>
            <a:ext cx="1828800" cy="11887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09728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B3A"/>
                </a:solidFill>
                <a:latin typeface="Calibri"/>
              </a:rPr>
              <a:t>ASSIGN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41732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Auto/manual team
assignment on create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7" y="1463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2D35"/>
                </a:solidFill>
                <a:latin typeface="Consolas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1828800" cy="11887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109728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  <a:latin typeface="Calibri"/>
              </a:rPr>
              <a:t>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141732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Run policy engine
against live resources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6688" y="1463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2D35"/>
                </a:solidFill>
                <a:latin typeface="Consolas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95560" y="1005840"/>
            <a:ext cx="1828800" cy="11887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05288" y="109728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  <a:latin typeface="Calibri"/>
              </a:rPr>
              <a:t>VIEW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5288" y="141732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Findings, risk score,
compliance report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423160"/>
            <a:ext cx="3657600" cy="23317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2532888"/>
            <a:ext cx="3328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AWS CREDENTIALS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862072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7889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Access Key ID + Secret Access Key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118104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044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Optional: Session Token (temporary creds)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374136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3009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Optional: explicit AWS Region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630168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557015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Validated via IAM GetCallerIdentity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86200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813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Stored encrypted — never returned to client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60" y="2423160"/>
            <a:ext cx="3657600" cy="23317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6552" y="2532888"/>
            <a:ext cx="3328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AZURE CREDENTIALS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34840" y="286207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27889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Tenant ID + Client ID + Client Secret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40" y="311810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3044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Subscription ID for resource scoping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40" y="3374136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0" y="33009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Service Principal with Reader role minimum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34840" y="363016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0" y="3557015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Validated via subscription list call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34840" y="388620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3813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ChainedTokenCredential support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2423160"/>
            <a:ext cx="3657600" cy="23317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02752" y="2532888"/>
            <a:ext cx="3328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ACCOUNT OPERATIONS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286207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58200" y="27889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Edit credentials (re-encrypt + re-validate)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3118104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8200" y="3044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Delete account (cascades scan history)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3374136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58200" y="33009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Test connection without scanning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21040" y="3630168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58200" y="3557015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Move to different team (superadmin/admin)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21040" y="3886200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58200" y="3813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Scan-all: bulk scan all team accounts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21040" y="414223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58200" y="40690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Schedule: auto-scan every N hours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937760"/>
            <a:ext cx="11430000" cy="640080"/>
          </a:xfrm>
          <a:prstGeom prst="rect">
            <a:avLst/>
          </a:prstGeom>
          <a:solidFill>
            <a:srgbClr val="1A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5760" y="4937760"/>
            <a:ext cx="54864" cy="6400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SECURITY:  Cloud credentials are encrypted with Fernet (AES-128-CBC + HMAC-SHA256) before database storage. The encryption key is stored in the server environment, never in the database. Credentials are decrypted only at scan runtime and never exposed through any API response.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SCAN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On-demand and scheduled cloud scanning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828800" cy="2743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33271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1. LOAD ACCOUNT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1828800" cy="9144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25880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Decrypt creds from DB
Determine cloud 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50876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2D35"/>
                </a:solidFill>
                <a:latin typeface="Consolas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005840"/>
            <a:ext cx="182880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33271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2. COLLECT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261872"/>
            <a:ext cx="1828800" cy="9144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1448" y="1325880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Call cloud SDK APIs
Normalize to CloudResource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50876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2D35"/>
                </a:solidFill>
                <a:latin typeface="Consolas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005840"/>
            <a:ext cx="1828800" cy="27432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1033271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3. EVALUATE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261872"/>
            <a:ext cx="1828800" cy="9144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325880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Run all matching rules
per resource_type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2D35"/>
                </a:solidFill>
                <a:latin typeface="Consolas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005840"/>
            <a:ext cx="1828800" cy="274320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1033271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4.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261872"/>
            <a:ext cx="1828800" cy="9144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1325880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Penalty model
CRIT/HIGH/MED/LOW → 0–100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150876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2D35"/>
                </a:solidFill>
                <a:latin typeface="Consolas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005840"/>
            <a:ext cx="1828800" cy="274320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1033271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5. PERSIST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261872"/>
            <a:ext cx="1828800" cy="9144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7" y="1325880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Store scan_result row
with JSON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150876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2D35"/>
                </a:solidFill>
                <a:latin typeface="Consolas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95560" y="1005840"/>
            <a:ext cx="1828800" cy="274320"/>
          </a:xfrm>
          <a:prstGeom prst="rect">
            <a:avLst/>
          </a:prstGeom>
          <a:solidFill>
            <a:srgbClr val="8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68712" y="1033271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E0C09"/>
                </a:solidFill>
                <a:latin typeface="Calibri"/>
              </a:rPr>
              <a:t>6. NOTIFY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95560" y="1261872"/>
            <a:ext cx="1828800" cy="9144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05288" y="1325880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Trigger email alert
if threshold exceeded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423160"/>
            <a:ext cx="5394960" cy="38862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2532888"/>
            <a:ext cx="5065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SCAN TYPES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2788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On-demand scan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0449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User triggers scan on a specific saved account.
Results stream in real-time. Shown on results page.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6576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Ad-hoc quick scan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136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Enter creds inline (not saved) for instant scan.
Great for one-off audits without saving credentials.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Scheduled scan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7823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APScheduler job runs every N hours per account.
Configurable interval. Results stored automatically.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3949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Bulk scan-all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6509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Admin/analyst triggers scan on all team accounts
in parallel. Status tracked with scanning_accounts set.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89320" y="2423160"/>
            <a:ext cx="5806440" cy="38862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53912" y="2532888"/>
            <a:ext cx="54772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CONCURRENCY &amp; PERFORMANCE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53912" y="286207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2" y="2788920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asyncio + asyncpg — non-blocking DB calls throughout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53912" y="311810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1072" y="30449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Scanning runs in ThreadPoolExecutor (boto3 is sync)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53912" y="3374136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1072" y="3300984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Per-account scan lock prevents duplicate concurrent scans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53912" y="363016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91072" y="3557015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scanning_accounts in-memory set for live status polling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53912" y="388620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91072" y="381304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Findings stored as compressed JSON in scan_results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53912" y="414223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1072" y="4069080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Resource normalization decouples connectors from rules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53912" y="439826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1072" y="432511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Rule evaluation: O(rules × resources) per scan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53912" y="4654296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91072" y="4581144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All cloud SDK calls wrapped in try/except per service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53912" y="491032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91072" y="483717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Single service failure never aborts the whole scan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53912" y="516636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91072" y="509320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Scan metadata: duration, resource count, finding counts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FINDINGS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Results, tracking, and remediation guidance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212080" cy="32004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9848"/>
            <a:ext cx="4882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FINDING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98448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CAF7D"/>
                </a:solidFill>
                <a:latin typeface="Consolas"/>
              </a:rPr>
              <a:t>{
  "rule_id":       "AWS-S3-003",
  "resource_id":   "my-prod-bucket",
  "resource_type": "s3_bucket",
  "severity":      "CRITICAL",
  "title":         "S3 bucket is publicly accessible",
  "description":   "Bucket has public ACL or Block disabled",
  "remediation":   "Enable Block Public Access on bucket",
  "frameworks":    ["CIS-2.1.5", "PCI-3.4", "HIPAA"],
  "status":        "acknowledged",
  "details":       { "acl": "public-read", "region": "us-east-1" }
}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960120"/>
            <a:ext cx="5989320" cy="150876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71031" y="1069848"/>
            <a:ext cx="5660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FINDING STATUS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98448"/>
            <a:ext cx="1097280" cy="201168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31673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2984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New finding, not yet addressed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664207"/>
            <a:ext cx="1097280" cy="201168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82495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0C09"/>
                </a:solidFill>
                <a:latin typeface="Calibri"/>
              </a:rPr>
              <a:t>ACKNOWLEDGED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664207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Noted — tracking for remediation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029967"/>
            <a:ext cx="1097280" cy="20116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048255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0C09"/>
                </a:solidFill>
                <a:latin typeface="Calibri"/>
              </a:rPr>
              <a:t>RESOLVED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029967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Fixed and confirmed by re-scan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651760"/>
            <a:ext cx="5989320" cy="333756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1" y="2761488"/>
            <a:ext cx="5660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COMPLIANCE FRAMEWORK MAPPING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971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  <a:latin typeface="Calibri"/>
              </a:rPr>
              <a:t>CIS Benchmarks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9718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Industry standard hardening guidelines for AWS &amp; Azure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3741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  <a:latin typeface="Calibri"/>
              </a:rPr>
              <a:t>NIST 800-53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37413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Federal security controls — mapped per control family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7764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  <a:latin typeface="Calibri"/>
              </a:rPr>
              <a:t>PCI-DSS v4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37764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Payment card data security — 12 requirements mapped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178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  <a:latin typeface="Calibri"/>
              </a:rPr>
              <a:t>HIPAA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1788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Healthcare data protection — administrative &amp; technical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5811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  <a:latin typeface="Calibri"/>
              </a:rPr>
              <a:t>SOC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45811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Service org security — Trust Services Criteria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9834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  <a:latin typeface="Calibri"/>
              </a:rPr>
              <a:t>ISO 27001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49834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Information security management — Annex A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3858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  <a:latin typeface="Calibri"/>
              </a:rPr>
              <a:t>GDPR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538581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Data protection — privacy by design principles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43400"/>
            <a:ext cx="11430000" cy="14173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4453128"/>
            <a:ext cx="11100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RISK SCORE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6634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onsolas"/>
              </a:rPr>
              <a:t>Score = 100 − Σ(severity_penalty × finding_count)   ·   clamped to [0, 100]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029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7D"/>
                </a:solidFill>
                <a:latin typeface="Calibri"/>
              </a:rPr>
              <a:t>90–100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257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EXCELLENT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5029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70–89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257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GOOD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59" y="5029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50–69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59" y="5257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FAIR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19" y="5029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B3A"/>
                </a:solidFill>
                <a:latin typeface="Calibri"/>
              </a:rPr>
              <a:t>30–49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19" y="5257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POOR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5029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555"/>
                </a:solidFill>
                <a:latin typeface="Calibri"/>
              </a:rPr>
              <a:t>0–29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5257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CRITICAL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ALERTING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Email notifications with HTML security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486400" cy="5349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9848"/>
            <a:ext cx="5157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ALERT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Trigger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55064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Score drops below custom threshold (e.g., &lt; 70)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11095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83794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New CRITICAL finding discovered in scan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67128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939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Both score threshold AND critical finding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14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Scope Options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43784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706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Per-account alert settings (individual thresholds)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99816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266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System-wide default alert settings (superadmin)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55848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826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Users set per-account overrides independently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03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Email Content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32504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593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HTML report with Vanguard branding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88536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153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Account name, scan timestamp, risk 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44568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4714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Full finding list grouped by severity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800600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7274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Remediation steps per finding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056632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9834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Compliance framework tags per finding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4041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Delivery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733288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601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SMTP via Gmail or SendGrid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989320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916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Configurable sender/recipients per account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245352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6172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Email sent in background thread (non-blocking)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501384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64282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Alert history stored in alert_history table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757416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66842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Deduplication: no re-alert if score unchanged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960120"/>
            <a:ext cx="5715000" cy="26060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5352" y="1069848"/>
            <a:ext cx="5385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ALERT HISTORY LOG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1399032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13258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Every alert email stored in alert_history table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1655064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1581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Fields: account, trigger type, score at time, timestamp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1911095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183794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Displayed in Alerts page as a scrollable feed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2167128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20939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Admin can review alert frequency per account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2423160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23500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Useful for compliance evidence and audit trails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80760" y="3749039"/>
            <a:ext cx="5715000" cy="25603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5352" y="3858768"/>
            <a:ext cx="5385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SCHEDULED SCANNING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418795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41148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APScheduler BackgroundScheduler (async-safe)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444398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43708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Per-account cron interval (hours configurable)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4700016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46268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Jobs stored in scheduled_jobs DB table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63640" y="495604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48828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On startup: all active jobs are re-registered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521208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0" y="51389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Scan completion updates next_run_at in DB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546811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5394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Admin can enable/disable/update schedule per account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CUSTOM POLICIES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User-defined security rules with JSON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212080" cy="5349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9848"/>
            <a:ext cx="4882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CUSTOM RULE ANATOMY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98448"/>
            <a:ext cx="48463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CAF7D"/>
                </a:solidFill>
                <a:latin typeface="Consolas"/>
              </a:rPr>
              <a:t>{
  "id":           "CUSTOM-001",
  "title":        "Prod buckets must have versioning",
  "description":  "All prod- prefixed S3 buckets...",
  "severity":     "HIGH",
  "resource_type":"s3_bucket",
  "condition": {
    "field":    "tags.Environment",
    "operator": "equals",
    "value":    "production"
  },
  "frameworks":   ["internal-policy"],
  "remediation":  "Enable S3 versioning on bucket"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4919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Stored as JSON in custom_rules.json · Evaluated alongside built-in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960120"/>
            <a:ext cx="5989320" cy="25603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1" y="1069848"/>
            <a:ext cx="5660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SUPPORTED OPERATORS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2984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equals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2984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Exact match on field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002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not_equals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6002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Field value is not 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9019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contains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90195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String contains substring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2037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not_contains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20370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String does not contain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054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exists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50545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Field is present and not null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07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not_exists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8072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Field is absent or null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108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greater_than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1089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Numeric comparison 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4107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less_than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4107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Numeric comparison &lt;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124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71246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Value is in a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0142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not_in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01421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Value is not in a list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3703320"/>
            <a:ext cx="5989320" cy="26060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71031" y="3813048"/>
            <a:ext cx="5660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CUSTOM RULE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4142232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0690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Create rule via Policies page form (analyst+)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4398264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43251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Full validation on condition structure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4654296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5811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Edit any existing custom rule (own or team)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4910328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483717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Delete custom rule with confirmation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5166360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50932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Rules evaluated on every scan automatically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5422392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53492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Rules appear in built-in policy browser alongside defaults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5678424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6052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Findings tagged with framework 'custom'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5934456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586130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Risk score includes custom rule violations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AUDIT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Immutable record of all significant platform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212080" cy="5349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9848"/>
            <a:ext cx="4882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LOGGED 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691640" cy="20116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16736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E0C09"/>
                </a:solidFill>
                <a:latin typeface="Calibri"/>
              </a:rP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2984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User signed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1691640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1848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E0C09"/>
                </a:solidFill>
                <a:latin typeface="Calibri"/>
              </a:rPr>
              <a:t>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6002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New user registered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01952"/>
            <a:ext cx="1691640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2024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E0C09"/>
                </a:solidFill>
                <a:latin typeface="Calibri"/>
              </a:rPr>
              <a:t>create_account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190195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Cloud account added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03704"/>
            <a:ext cx="1691640" cy="201168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2199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delete_account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2037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Cloud account removed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505456"/>
            <a:ext cx="1691640" cy="20116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523744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E0C09"/>
                </a:solidFill>
                <a:latin typeface="Calibri"/>
              </a:rPr>
              <a:t>scan_account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5054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Scan triggered on account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807208"/>
            <a:ext cx="1691640" cy="20116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825496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E0C09"/>
                </a:solidFill>
                <a:latin typeface="Calibri"/>
              </a:rPr>
              <a:t>bulk_scan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28072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Scan-all triggered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108960"/>
            <a:ext cx="1691640" cy="201168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2724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delete_user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31089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User deleted by admin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410712"/>
            <a:ext cx="1691640" cy="201168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E0C09"/>
                </a:solidFill>
                <a:latin typeface="Calibri"/>
              </a:rPr>
              <a:t>change_user_role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341071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Role changed by admin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12464"/>
            <a:ext cx="1691640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73075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E0C09"/>
                </a:solidFill>
                <a:latin typeface="Calibri"/>
              </a:rPr>
              <a:t>create_custom_rule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371246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New custom rule added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14216"/>
            <a:ext cx="1691640" cy="201168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032504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delete_custom_rule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401421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Custom rule removed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315968"/>
            <a:ext cx="1691640" cy="2011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334256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E0C09"/>
                </a:solidFill>
                <a:latin typeface="Calibri"/>
              </a:rPr>
              <a:t>update_alert_settings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43159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Alert config changed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617720"/>
            <a:ext cx="1691640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63600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E0C09"/>
                </a:solidFill>
                <a:latin typeface="Calibri"/>
              </a:rPr>
              <a:t>create_team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46177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New team created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919472"/>
            <a:ext cx="1691640" cy="20116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937759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E0C09"/>
                </a:solidFill>
                <a:latin typeface="Calibri"/>
              </a:rPr>
              <a:t>add_team_member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9194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User added to team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221224"/>
            <a:ext cx="1691640" cy="201168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23951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remove_team_member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1720" y="52212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User removed from team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522976"/>
            <a:ext cx="1691640" cy="20116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541264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E0C09"/>
                </a:solidFill>
                <a:latin typeface="Calibri"/>
              </a:rPr>
              <a:t>mfa_enabled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1720" y="552297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MFA activated by user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824728"/>
            <a:ext cx="1691640" cy="201168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843016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E0C09"/>
                </a:solidFill>
                <a:latin typeface="Calibri"/>
              </a:rPr>
              <a:t>password_reset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31720" y="58247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Password reset by user/admin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06440" y="960120"/>
            <a:ext cx="5989320" cy="23774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71031" y="1069848"/>
            <a:ext cx="5660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LOG ENTRY FIELDS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129844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onsolas"/>
              </a:rPr>
              <a:t>user_id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09560" y="129844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UUID of the acting user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15544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onsolas"/>
              </a:rPr>
              <a:t>user_email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155448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Email for display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181051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onsolas"/>
              </a:rPr>
              <a:t>action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09560" y="181051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Action type key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2066543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onsolas"/>
              </a:rPr>
              <a:t>resource_id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9560" y="2066543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Target resource UUID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0" y="232257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onsolas"/>
              </a:rPr>
              <a:t>resource_name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09560" y="232257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Human-readable resource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0" y="257860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onsolas"/>
              </a:rPr>
              <a:t>ip_address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9560" y="257860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Requester IP (from headers)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0" y="28346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onsolas"/>
              </a:rPr>
              <a:t>detail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09560" y="283464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JSON blob with context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309067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onsolas"/>
              </a:rPr>
              <a:t>created_at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09560" y="309067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47A"/>
                </a:solidFill>
                <a:latin typeface="Calibri"/>
              </a:rPr>
              <a:t>UTC timestamp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06440" y="3520440"/>
            <a:ext cx="5989320" cy="27889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971031" y="3630168"/>
            <a:ext cx="5660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VISIBILITY BY ROLE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0" y="3840480"/>
            <a:ext cx="1097280" cy="2011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89320" y="38587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0C09"/>
                </a:solidFill>
                <a:latin typeface="Calibri"/>
              </a:rPr>
              <a:t>SUPERADMIN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78040" y="384048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ALL logs — complete platform audit trail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4389120"/>
            <a:ext cx="1097280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89320" y="440740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0C09"/>
                </a:solidFill>
                <a:latin typeface="Calibri"/>
              </a:rPr>
              <a:t>ADMIN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78040" y="438912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All actions by users in their teams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43600" y="4937760"/>
            <a:ext cx="1097280" cy="20116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89320" y="495604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0C09"/>
                </a:solidFill>
                <a:latin typeface="Calibri"/>
              </a:rPr>
              <a:t>ANALYST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78040" y="493776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Their own actions only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43600" y="5486400"/>
            <a:ext cx="1097280" cy="201168"/>
          </a:xfrm>
          <a:prstGeom prst="rect">
            <a:avLst/>
          </a:prstGeom>
          <a:solidFill>
            <a:srgbClr val="8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89320" y="550468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VIEWER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78040" y="548640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No access to audit log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TEAM &amp; RBAC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Multi-team isolation and role-based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1031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9848"/>
            <a:ext cx="11100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ROLE CAPABILITIES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2984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SUPERADMIN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2984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alibri"/>
              </a:rP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2984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CAF7D"/>
                </a:solidFill>
                <a:latin typeface="Calibri"/>
              </a:rPr>
              <a:t>ANALYST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2984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47A"/>
                </a:solidFill>
                <a:latin typeface="Calibri"/>
              </a:rPr>
              <a:t>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72768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47A"/>
                </a:solidFill>
                <a:latin typeface="Calibri"/>
              </a:rPr>
              <a:t>Create/delete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57276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57276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57276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57276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719072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47A"/>
                </a:solidFill>
                <a:latin typeface="Calibri"/>
              </a:rPr>
              <a:t>Add any user to any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71907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71907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71907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171907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865376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47A"/>
                </a:solidFill>
                <a:latin typeface="Calibri"/>
              </a:rPr>
              <a:t>Add member to own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186537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186537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186537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186537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11680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47A"/>
                </a:solidFill>
                <a:latin typeface="Calibri"/>
              </a:rPr>
              <a:t>Invite new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20116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0116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0116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0116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15798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47A"/>
                </a:solidFill>
                <a:latin typeface="Calibri"/>
              </a:rPr>
              <a:t>See all accounts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215798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215798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97B3A"/>
                </a:solidFill>
                <a:latin typeface="Calibri"/>
              </a:rPr>
              <a:t>own team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215798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97B3A"/>
                </a:solidFill>
                <a:latin typeface="Calibri"/>
              </a:rPr>
              <a:t>own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15798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97B3A"/>
                </a:solidFill>
                <a:latin typeface="Calibri"/>
              </a:rPr>
              <a:t>own 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2304288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47A"/>
                </a:solidFill>
                <a:latin typeface="Calibri"/>
              </a:rPr>
              <a:t>Add cloud account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230428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230428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30428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230428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450591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47A"/>
                </a:solidFill>
                <a:latin typeface="Calibri"/>
              </a:rPr>
              <a:t>Delete cloud account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2450591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2450591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2450591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2450591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2596896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47A"/>
                </a:solidFill>
                <a:latin typeface="Calibri"/>
              </a:rPr>
              <a:t>Scan account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259689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259689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259689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259689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2743200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47A"/>
                </a:solidFill>
                <a:latin typeface="Calibri"/>
              </a:rPr>
              <a:t>Create custom policies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274320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274320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274320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274320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88950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47A"/>
                </a:solidFill>
                <a:latin typeface="Calibri"/>
              </a:rPr>
              <a:t>View audit log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0" y="288950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0" y="288950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CAF7D"/>
                </a:solidFill>
                <a:latin typeface="Calibri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288950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97B3A"/>
                </a:solidFill>
                <a:latin typeface="Calibri"/>
              </a:rPr>
              <a:t>own only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5520" y="288950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555"/>
                </a:solidFill>
                <a:latin typeface="Calibri"/>
              </a:rPr>
              <a:t>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246120"/>
            <a:ext cx="5394960" cy="3063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0352" y="3355848"/>
            <a:ext cx="5065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TEAM STRUCTURE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368503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36118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Teams are isolated silos — accounts are scoped to one team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394106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8679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Users can belong to multiple teams (many-to-many)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4197096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" y="41239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team_members table: team_id × user_id with UNIQUE constraint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445312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43799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cloud_accounts.team_id FK — NULL = superadmin-only visible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470916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" y="46360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Deleting a team: accounts get team_id = NULL (not deleted)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496519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" y="4892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Admin auto-added to new user's team on invite-accept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522122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5148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Superadmin sees and manages all teams from one panel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5477256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54041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Team member additions take effect on next API call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89320" y="3246120"/>
            <a:ext cx="5806440" cy="3063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53912" y="3355848"/>
            <a:ext cx="54772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DATABASE SCHEMA — TEAMS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72200" y="3584448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CAF7D"/>
                </a:solidFill>
                <a:latin typeface="Consolas"/>
              </a:rPr>
              <a:t>teams
  id UUID PK
  name TEXT UNIQUE
  description TEXT
  created_by UUID → users
  created_at TIMESTAMPTZ
team_members
  id UUID PK
  team_id UUID → teams (CASCADE)
  user_id UUID → users (CASCADE)
  added_by UUID → users
  UNIQUE (team_id, user_id)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PostgreSQL 15 — 11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03320" cy="27432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90472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id UUID PK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01368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2821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email, username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12264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3911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password_hash (bcrypt)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23160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5000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role (superadmin/admin/analyst/viewer)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34056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6090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is_active, mfa_enabled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44952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718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created_by UUID → users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005840"/>
            <a:ext cx="3703320" cy="27432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115568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alibri"/>
              </a:rPr>
              <a:t>cloud_accounts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149047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141732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id UUID PK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180136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72821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name, cloud (aws/azure)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11226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203911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encrypted_creds (Fernet)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42316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235000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team_id UUID → teams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2734056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266090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last_scanned_at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304495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29718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scan_interval_hours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005840"/>
            <a:ext cx="3703320" cy="27432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2" y="1115568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CAF7D"/>
                </a:solidFill>
                <a:latin typeface="Calibri"/>
              </a:rPr>
              <a:t>scan_results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149047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141732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id UUID PK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1801368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172821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account_id UUID → cloud_accounts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2112264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203911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findings JSONB (full list)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2423160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35000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risk_score, resource_count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2734056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266090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critical/high/medium/low counts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304495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40" y="29718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scanned_at TIMESTAMPTZ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886200"/>
            <a:ext cx="3703320" cy="27432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3995928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B3A"/>
                </a:solidFill>
                <a:latin typeface="Calibri"/>
              </a:rPr>
              <a:t>teams / team_members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370832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42976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teams: id, name, description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681728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460857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team_members: team_id × user_id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992624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491947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Both with CASCADE deletes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303520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2303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Unique constraint on membership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614416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554126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Indexed on team_id, user_id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3886200"/>
            <a:ext cx="3703320" cy="27432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62272" y="3995928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5555"/>
                </a:solidFill>
                <a:latin typeface="Calibri"/>
              </a:rPr>
              <a:t>alert_settings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80560" y="4370832"/>
            <a:ext cx="54864" cy="54864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17720" y="42976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id UUID PK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80560" y="4681728"/>
            <a:ext cx="54864" cy="54864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17720" y="460857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user_id, account_id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80560" y="4992624"/>
            <a:ext cx="54864" cy="54864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17720" y="491947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threshold_score (int)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80560" y="5303520"/>
            <a:ext cx="54864" cy="54864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17720" y="52303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alert_on_critical (bool)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80560" y="5614416"/>
            <a:ext cx="54864" cy="54864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17720" y="554126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recipient_email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480560" y="5925312"/>
            <a:ext cx="54864" cy="54864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17720" y="585216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enabled (bool)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3886200"/>
            <a:ext cx="3703320" cy="274320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94192" y="3995928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47A"/>
                </a:solidFill>
                <a:latin typeface="Calibri"/>
              </a:rPr>
              <a:t>audit_log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12480" y="4370832"/>
            <a:ext cx="54864" cy="54864"/>
          </a:xfrm>
          <a:prstGeom prst="rect">
            <a:avLst/>
          </a:prstGeom>
          <a:solidFill>
            <a:srgbClr val="8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49640" y="42976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id UUID PK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12480" y="4681728"/>
            <a:ext cx="54864" cy="54864"/>
          </a:xfrm>
          <a:prstGeom prst="rect">
            <a:avLst/>
          </a:prstGeom>
          <a:solidFill>
            <a:srgbClr val="8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460857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user_id, user_email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412480" y="4992624"/>
            <a:ext cx="54864" cy="54864"/>
          </a:xfrm>
          <a:prstGeom prst="rect">
            <a:avLst/>
          </a:prstGeom>
          <a:solidFill>
            <a:srgbClr val="8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49640" y="491947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action (event key)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12480" y="5303520"/>
            <a:ext cx="54864" cy="54864"/>
          </a:xfrm>
          <a:prstGeom prst="rect">
            <a:avLst/>
          </a:prstGeom>
          <a:solidFill>
            <a:srgbClr val="8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49640" y="52303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resource_id, resource_name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12480" y="5614416"/>
            <a:ext cx="54864" cy="54864"/>
          </a:xfrm>
          <a:prstGeom prst="rect">
            <a:avLst/>
          </a:prstGeom>
          <a:solidFill>
            <a:srgbClr val="8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49640" y="554126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ip_address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12480" y="5925312"/>
            <a:ext cx="54864" cy="54864"/>
          </a:xfrm>
          <a:prstGeom prst="rect">
            <a:avLst/>
          </a:prstGeom>
          <a:solidFill>
            <a:srgbClr val="8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49640" y="585216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detail JSONB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6446520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47A"/>
                </a:solidFill>
                <a:latin typeface="Calibri"/>
              </a:rPr>
              <a:t>Additional tables: invite_tokens  ·  password_reset_tokens  ·  finding_statuses  ·  scheduled_jobs  ·  alert_history  ·  system_alert_settings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Docker Compose, Nginx, and production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486400" cy="32461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9848"/>
            <a:ext cx="5157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DOCKER COMPOSE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onsolas"/>
              </a:rPr>
              <a:t>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258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postgres:15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PostgreSQL with health check, volume 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391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onsola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391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python:3.11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13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FastAPI + uvicorn on port 8000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7D"/>
                </a:solidFill>
                <a:latin typeface="Consolas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523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node:20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26663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Vite dev server (dev) / nginx (prod)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6557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B3A"/>
                </a:solidFill>
                <a:latin typeface="Consolas"/>
              </a:rPr>
              <a:t>nginx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655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nginx:alpine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398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Reverse proxy, TLS termination, port 80/443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960120"/>
            <a:ext cx="5715000" cy="324612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1069848"/>
            <a:ext cx="5385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.ENV CONFIGURATION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39903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32588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DATABASE_URL — asyncpg connection string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65506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58191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SECRET_KEY — JWT signing secret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911095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837943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FERNET_KEY — credential encryption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16712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09397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SMTP_HOST / SMTP_PORT / SMTP_USER / SMTP_PASS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42316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35000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VITE_API_URL — frontend API base URL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67919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60604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CORS_ORIGINS — allowed frontend origins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93522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86207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FIRST_ADMIN_EMAIL / PASSWORD (setup mode)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89120"/>
            <a:ext cx="5394960" cy="1920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4498848"/>
            <a:ext cx="5065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DEVELOPMENT vs PRODUCTION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7091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  <a:latin typeface="Calibri"/>
              </a:rPr>
              <a:t>DEV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7091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docker-compose.yml — hot-reload Vite + FastAPI, debug logs, no TLS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1206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  <a:latin typeface="Calibri"/>
              </a:rPr>
              <a:t>PROD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120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47A"/>
                </a:solidFill>
                <a:latin typeface="Calibri"/>
              </a:rPr>
              <a:t>docker-compose.prod.yml — static frontend build, Nginx TLS, uvicorn workers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4389120"/>
            <a:ext cx="5715000" cy="1920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5352" y="4498848"/>
            <a:ext cx="5385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NGINX ROUTING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782312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70916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/api/* → http://backend:8000 (proxy_pass)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5038344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96519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/ → static build or frontend:5173 (dev)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5294376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522122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CORS headers set at proxy layer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5550408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547725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WebSocket upgrade headers (for future WS)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5806440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73328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Gzip compression enabled for JS/CSS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SECURITY DESIGN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Defense-in-depth across all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2788920" cy="5349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9848"/>
            <a:ext cx="2459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Authentication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399032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258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bcrypt (cost 12) password hashing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655064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5819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JWT HS256 tokens, 24h TTL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11095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837943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TOTP MFA (RFC 6238) with QR provisioning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167128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0939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Signed single-use password-reset tokens (1h TTL)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423160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35000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Account active/inactive flag with immediate lockout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960120"/>
            <a:ext cx="2788920" cy="5349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1069848"/>
            <a:ext cx="2459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alibri"/>
              </a:rPr>
              <a:t>Authorization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139903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13258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require_role() FastAPI dependency on every endpoint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56432" y="165506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3592" y="15819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4-level role hierarchy: superadmin &gt; admin &gt; analyst &gt; viewer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6432" y="1911095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2" y="1837943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Team isolation: data filtered by team membership at DB query level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6432" y="216712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3592" y="20939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Admin cannot escalate to admin/superadmin roles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56432" y="242316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3592" y="235000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Admin RBAC scoped: can only manage own-team lower-role users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960120"/>
            <a:ext cx="2788920" cy="5349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1069848"/>
            <a:ext cx="2459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CAF7D"/>
                </a:solidFill>
                <a:latin typeface="Calibri"/>
              </a:rPr>
              <a:t>Data Protection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82512" y="139903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13258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Fernet (AES-128-CBC + HMAC-SHA256) for cloud credentials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1655064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15819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Encryption key in server env — never in database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2512" y="1911095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1837943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Credentials never returned in any API response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82512" y="2167128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20939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PostgreSQL TLS connection (production)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2423160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235000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HTTPS-only in production (Nginx TLS termination)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960120"/>
            <a:ext cx="2788920" cy="5349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08592" y="1069848"/>
            <a:ext cx="2459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B3A"/>
                </a:solidFill>
                <a:latin typeface="Calibri"/>
              </a:rPr>
              <a:t>Audit &amp; Monitoring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08592" y="1399032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45752" y="13258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Every significant action logged to audit_log table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08592" y="1655064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45752" y="15819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IP address captured from X-Forwarded-For / direct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08592" y="1911095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45752" y="1837943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Detail JSONB captures context (old role, new role, etc.)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08592" y="2167128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45752" y="20939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Immutable log — no edit/delete endpoints for audit entries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08592" y="2423160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45752" y="235000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Superadmin has full platform-wide visibility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SUMMARY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30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47A"/>
                </a:solidFill>
                <a:latin typeface="Calibri"/>
              </a:rPr>
              <a:t>What's built and 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486400" cy="5349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9848"/>
            <a:ext cx="5157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WHAT'S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9903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Multi-cloud CSPM for AWS (90+ rules) and Azure (137 rules)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55064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819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Full compliance mapping: CIS, NIST, PCI, HIPAA, SOC2, ISO, GDPR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11095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3794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Real-time and scheduled scanning with APScheduler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67128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939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Risk scoring: 0–100 penalty model with severity weighting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23160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500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Team-based RBAC: superadmin / admin / analyst / viewer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7919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06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Team isolation: accounts and findings scoped per team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62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TOTP MFA with QR code provisioning (pyotp)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91256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1181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Fernet-encrypted credential storage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47288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3741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Full audit log with IP tracking and JSON detail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03320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30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Custom policy engine (10 operators, any resource_type)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5935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886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Email alerting: HTML reports, score threshold, critical-finding triggers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15384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1422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Scheduled background scans (per-account interval)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471416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3982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Finding status tracking: open / acknowledged / resolved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27448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6542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First-time setup wizard (superadmin bootstrap)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83480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9103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Docker Compose dev + prod, Nginx reverse proxy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39512"/>
            <a:ext cx="54864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1663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Dark/light theme, fully custom React UI (no external UI lib)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960120"/>
            <a:ext cx="5715000" cy="5349240"/>
          </a:xfrm>
          <a:prstGeom prst="rect">
            <a:avLst/>
          </a:prstGeom>
          <a:solidFill>
            <a:srgbClr val="14120F"/>
          </a:solidFill>
          <a:ln w="9525">
            <a:solidFill>
              <a:srgbClr val="2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5352" y="1069848"/>
            <a:ext cx="5385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C518"/>
                </a:solidFill>
                <a:latin typeface="Calibri"/>
              </a:rPr>
              <a:t>FUTURE ROADMAP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13258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Short Term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1655064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158191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GCP connector (Cloud SQL, GCS, IAM, GKE)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1911095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1837943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Expand AWS rules to 220+ (Redshift, WAF, Cognito, ECS…)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2167128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209397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Unit + integration test coverage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2423160"/>
            <a:ext cx="5486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235000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Nginx prod config — serve static build correctly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8072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Medium Term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313639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306324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SAML / SSO integration (Okta, Azure AD)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339242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31927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Webhook alerts (Slack, Teams, PagerDuty)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3648456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357530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CSV / PDF compliance report export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3904488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383133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Role-specific dashboard views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416052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408736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Resource-level history and diff view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5445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B3A"/>
                </a:solidFill>
                <a:latin typeface="Calibri"/>
              </a:rPr>
              <a:t>Long Term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63640" y="4873752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480060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Auto-remediation with approval workflows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5129784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505663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Terraform / IaC drift detection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63640" y="5385816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0" y="531266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CI/CD pipeline security gate integration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63640" y="5641848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0" y="556869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Multi-region deployment with data residency controls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63640" y="5897880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0" y="582472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AI-powered remediation suggestions (LLM-assisted)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6153912"/>
            <a:ext cx="54864" cy="54864"/>
          </a:xfrm>
          <a:prstGeom prst="rect">
            <a:avLst/>
          </a:prstGeom>
          <a:solidFill>
            <a:srgbClr val="D9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0" y="608076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47A"/>
                </a:solidFill>
                <a:latin typeface="Calibri"/>
              </a:rPr>
              <a:t>SOC 2 Type II evidence collection automation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4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47A"/>
                </a:solidFill>
                <a:latin typeface="Calibri"/>
              </a:rPr>
              <a:t>VANGUARD — CLOUD SECURITY POSTURE MANAGEMENT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47A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